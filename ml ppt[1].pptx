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7" r:id="rId3"/>
    <p:sldId id="263" r:id="rId4"/>
    <p:sldId id="266" r:id="rId5"/>
    <p:sldId id="284" r:id="rId6"/>
    <p:sldId id="258" r:id="rId7"/>
    <p:sldId id="276" r:id="rId8"/>
    <p:sldId id="259" r:id="rId9"/>
    <p:sldId id="268" r:id="rId10"/>
    <p:sldId id="264" r:id="rId11"/>
    <p:sldId id="267" r:id="rId12"/>
    <p:sldId id="269" r:id="rId13"/>
    <p:sldId id="26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9881CC-7B3A-4C54-A324-5C0D869DB4E6}" v="1" dt="2025-01-13T04:33:21.2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01" autoAdjust="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yanka Budihal" userId="2dd2abd5e02a52ca" providerId="LiveId" clId="{D79881CC-7B3A-4C54-A324-5C0D869DB4E6}"/>
    <pc:docChg chg="undo custSel addSld delSld modSld sldOrd">
      <pc:chgData name="Priyanka Budihal" userId="2dd2abd5e02a52ca" providerId="LiveId" clId="{D79881CC-7B3A-4C54-A324-5C0D869DB4E6}" dt="2025-01-13T06:20:36.936" v="29"/>
      <pc:docMkLst>
        <pc:docMk/>
      </pc:docMkLst>
      <pc:sldChg chg="modSp mod">
        <pc:chgData name="Priyanka Budihal" userId="2dd2abd5e02a52ca" providerId="LiveId" clId="{D79881CC-7B3A-4C54-A324-5C0D869DB4E6}" dt="2025-01-13T04:32:26.083" v="13" actId="20577"/>
        <pc:sldMkLst>
          <pc:docMk/>
          <pc:sldMk cId="0" sldId="256"/>
        </pc:sldMkLst>
        <pc:spChg chg="mod">
          <ac:chgData name="Priyanka Budihal" userId="2dd2abd5e02a52ca" providerId="LiveId" clId="{D79881CC-7B3A-4C54-A324-5C0D869DB4E6}" dt="2025-01-13T04:32:26.083" v="13" actId="20577"/>
          <ac:spMkLst>
            <pc:docMk/>
            <pc:sldMk cId="0" sldId="256"/>
            <ac:spMk id="8" creationId="{00000000-0000-0000-0000-000000000000}"/>
          </ac:spMkLst>
        </pc:spChg>
      </pc:sldChg>
      <pc:sldChg chg="modSp mod">
        <pc:chgData name="Priyanka Budihal" userId="2dd2abd5e02a52ca" providerId="LiveId" clId="{D79881CC-7B3A-4C54-A324-5C0D869DB4E6}" dt="2025-01-13T04:34:31.179" v="26" actId="2711"/>
        <pc:sldMkLst>
          <pc:docMk/>
          <pc:sldMk cId="525197106" sldId="258"/>
        </pc:sldMkLst>
        <pc:graphicFrameChg chg="modGraphic">
          <ac:chgData name="Priyanka Budihal" userId="2dd2abd5e02a52ca" providerId="LiveId" clId="{D79881CC-7B3A-4C54-A324-5C0D869DB4E6}" dt="2025-01-13T04:34:31.179" v="26" actId="2711"/>
          <ac:graphicFrameMkLst>
            <pc:docMk/>
            <pc:sldMk cId="525197106" sldId="258"/>
            <ac:graphicFrameMk id="4" creationId="{64368E32-0019-E20B-7EF2-BC5671AB2864}"/>
          </ac:graphicFrameMkLst>
        </pc:graphicFrameChg>
      </pc:sldChg>
      <pc:sldChg chg="addSp modSp mod ord">
        <pc:chgData name="Priyanka Budihal" userId="2dd2abd5e02a52ca" providerId="LiveId" clId="{D79881CC-7B3A-4C54-A324-5C0D869DB4E6}" dt="2025-01-13T06:20:36.936" v="29"/>
        <pc:sldMkLst>
          <pc:docMk/>
          <pc:sldMk cId="3227479934" sldId="267"/>
        </pc:sldMkLst>
        <pc:spChg chg="add mod">
          <ac:chgData name="Priyanka Budihal" userId="2dd2abd5e02a52ca" providerId="LiveId" clId="{D79881CC-7B3A-4C54-A324-5C0D869DB4E6}" dt="2025-01-13T04:33:52.887" v="22" actId="123"/>
          <ac:spMkLst>
            <pc:docMk/>
            <pc:sldMk cId="3227479934" sldId="267"/>
            <ac:spMk id="5" creationId="{B65317A4-76FE-27F6-AFE1-5B8D266F2AD0}"/>
          </ac:spMkLst>
        </pc:spChg>
      </pc:sldChg>
      <pc:sldChg chg="modSp mod">
        <pc:chgData name="Priyanka Budihal" userId="2dd2abd5e02a52ca" providerId="LiveId" clId="{D79881CC-7B3A-4C54-A324-5C0D869DB4E6}" dt="2025-01-13T04:34:41.183" v="27" actId="2711"/>
        <pc:sldMkLst>
          <pc:docMk/>
          <pc:sldMk cId="2187888829" sldId="276"/>
        </pc:sldMkLst>
        <pc:graphicFrameChg chg="modGraphic">
          <ac:chgData name="Priyanka Budihal" userId="2dd2abd5e02a52ca" providerId="LiveId" clId="{D79881CC-7B3A-4C54-A324-5C0D869DB4E6}" dt="2025-01-13T04:34:41.183" v="27" actId="2711"/>
          <ac:graphicFrameMkLst>
            <pc:docMk/>
            <pc:sldMk cId="2187888829" sldId="276"/>
            <ac:graphicFrameMk id="8" creationId="{676E0732-2C3C-1BE6-DE65-F8BAB5329BAA}"/>
          </ac:graphicFrameMkLst>
        </pc:graphicFrameChg>
      </pc:sldChg>
      <pc:sldChg chg="new del">
        <pc:chgData name="Priyanka Budihal" userId="2dd2abd5e02a52ca" providerId="LiveId" clId="{D79881CC-7B3A-4C54-A324-5C0D869DB4E6}" dt="2025-01-13T04:32:35.093" v="15" actId="47"/>
        <pc:sldMkLst>
          <pc:docMk/>
          <pc:sldMk cId="3662945083" sldId="28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53B2D-5E89-DA04-F0EC-6A4FC9F723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9AD730-ACFA-D081-76FA-6CAF00EE0D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C5BFBB-FCAF-C3CF-7D31-6457ADE8F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3383-3874-4807-AF1F-95EE1668570F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070C8D-6EEA-1C8A-D1C5-C9395B18C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296E7F-A9E8-87DD-B263-DF6AF36FE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20516-70CF-47FE-AA80-3DABE7EA9D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8028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78858-DBF9-FDAE-034C-CE8392D64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3A76C-D8ED-A811-6DDF-96AE94ED7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3DC801-4A41-88C0-3707-A03C33498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3383-3874-4807-AF1F-95EE1668570F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3780A3-EC20-7BA8-17FA-0F4326D92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7929B-8314-3E90-6B4F-3204ED396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20516-70CF-47FE-AA80-3DABE7EA9D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0417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4060B-3979-1617-C601-D2187AB26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F1021-31B4-174A-ADF4-2F6CC25480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5DBC8-2AB1-0B7F-FBD3-E194BE983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3383-3874-4807-AF1F-95EE1668570F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D27E47-254D-DCCE-32C0-C0E5B3DDF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7F888-81FE-7F88-A093-3974423C7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20516-70CF-47FE-AA80-3DABE7EA9D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131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C8711-B5A7-0551-BFC5-A771C1439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CDFC8-14A5-D04E-CC29-973FAC35CC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51A1EC-28C7-A757-5C2C-217FEA556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D59917-14EF-8CEA-AB44-8AFFD65E7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3383-3874-4807-AF1F-95EE1668570F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85FA18-355D-FE8F-FEB5-ED2E1B0FF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1EE87B-B154-1C9E-BEE3-4D66AB228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20516-70CF-47FE-AA80-3DABE7EA9D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8723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ED765-7C24-C826-D6AE-480F33024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AA7067-4A97-C6AE-3BBB-EED7C7E52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DD9672-10CC-98DF-A468-162AD34BC4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B94AC6-6513-99E1-50B2-D7FA321174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A1EFFF-63FD-1722-A840-323E237359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238BA4-61BE-811A-29E8-F5D9F767C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3383-3874-4807-AF1F-95EE1668570F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252F2D-3C11-8A44-4039-FA36A27D3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0B1CDC-B092-3669-100C-7659BF4B0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20516-70CF-47FE-AA80-3DABE7EA9D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1130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B7536-4452-26D5-5AD8-0C8044F3E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B9F63E-6177-127E-557A-47D12BF0A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3383-3874-4807-AF1F-95EE1668570F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31809F-C609-6A86-496B-D4BBE1320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ED7F6E-7A17-39E3-3472-65C0B8D3A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20516-70CF-47FE-AA80-3DABE7EA9D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8884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E4DC10-07DA-15C5-C63D-EC04A447E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3383-3874-4807-AF1F-95EE1668570F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E014C7-087F-ABD1-54F4-8830FF8CA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0AC9FD-09E2-11A0-E0BE-B9E2B8863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20516-70CF-47FE-AA80-3DABE7EA9D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510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6BBD2-C24D-D794-ACE7-785572EE9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CC47D-99EB-7EE3-B330-80E7A4FA5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34EA2A-F43B-4733-4736-0DBB77DF36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692B87-28E8-C3A7-B31E-67572BEAE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3383-3874-4807-AF1F-95EE1668570F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7E5FB1-C0DA-0369-E0F6-E4252CBC0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BB66D2-78D9-9808-A7A7-20CBEF75B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20516-70CF-47FE-AA80-3DABE7EA9D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5740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E0919-7AAD-5846-0F20-36B814338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22C7D8-0F8B-BF16-95C2-C628F66889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66C4CB-6539-4C8F-0D52-02DCC17307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58A77E-B792-59DB-195D-93475B730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3383-3874-4807-AF1F-95EE1668570F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4C9480-AE11-88B1-F8E8-D9D8F2C26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7C6B70-A847-77BC-2FD5-47C5B88A3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20516-70CF-47FE-AA80-3DABE7EA9D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162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B4D20-BB9C-2CA9-2A61-2E1A65BFF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442794-947B-4E25-EDCC-28933D4FF0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6C36E-F6FB-C313-0E2F-A9D76B1A8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3383-3874-4807-AF1F-95EE1668570F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D8B34-71E9-B052-FA9B-7F0D9CFE6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B8FE1-D224-FB99-0421-8E3E491B0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20516-70CF-47FE-AA80-3DABE7EA9D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153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ED777C-5887-3A31-823B-165F378D0E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CCCD0C-2819-0D89-D1FC-F21F362AE5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78963D-5439-7B0E-13D7-63A15AC02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3383-3874-4807-AF1F-95EE1668570F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1161B-93E4-73E0-787F-156B95532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1A456-92EF-796C-AC87-19FF1187F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20516-70CF-47FE-AA80-3DABE7EA9D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7600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0FD25D-83D7-91D3-0C49-7BC292AF4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A36180-BE02-EC5A-E0CC-2A40741C6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8D21F-D2C4-D7C1-B43D-1D2566FDCD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F33383-3874-4807-AF1F-95EE1668570F}" type="datetimeFigureOut">
              <a:rPr lang="en-IN" smtClean="0"/>
              <a:t>13-01-2025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74DBC4-4ACB-5433-70BC-6DAFF907DF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0F3B0-8C79-AD87-5BC3-8C3C51182A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620516-70CF-47FE-AA80-3DABE7EA9D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8161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96" y="64781"/>
            <a:ext cx="11915194" cy="1016065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3797558" y="5539423"/>
            <a:ext cx="45626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Under the Guidance of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Dr.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Dattaprasad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A. Torse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3581" y="4319041"/>
            <a:ext cx="10310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400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5D7E8-EE27-4204-8EF9-D5E90A448860}" type="slidenum">
              <a:rPr lang="en-IN" smtClean="0"/>
              <a:t>1</a:t>
            </a:fld>
            <a:endParaRPr lang="en-IN" dirty="0"/>
          </a:p>
        </p:txBody>
      </p:sp>
      <p:graphicFrame>
        <p:nvGraphicFramePr>
          <p:cNvPr id="9" name="Table 8"/>
          <p:cNvGraphicFramePr/>
          <p:nvPr>
            <p:extLst>
              <p:ext uri="{D42A27DB-BD31-4B8C-83A1-F6EECF244321}">
                <p14:modId xmlns:p14="http://schemas.microsoft.com/office/powerpoint/2010/main" val="131909190"/>
              </p:ext>
            </p:extLst>
          </p:nvPr>
        </p:nvGraphicFramePr>
        <p:xfrm>
          <a:off x="1985643" y="2624278"/>
          <a:ext cx="8391772" cy="27263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0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2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5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3416">
                  <a:extLst>
                    <a:ext uri="{9D8B030D-6E8A-4147-A177-3AD203B41FA5}">
                      <a16:colId xmlns:a16="http://schemas.microsoft.com/office/drawing/2014/main" val="1011142852"/>
                    </a:ext>
                  </a:extLst>
                </a:gridCol>
              </a:tblGrid>
              <a:tr h="493748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b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SL.NO</a:t>
                      </a:r>
                      <a:endParaRPr lang="en-US" b="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b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b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USN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b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ROLL NO.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48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b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b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NANDEESH KATKOL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b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02FE22BEC040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b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60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b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b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PRIYANSHU PORWAL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02FE22BEC056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60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b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PRIYANKA BUDIHAL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02FE22BEC054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60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b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b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JAMUNA PULPATLI</a:t>
                      </a:r>
                      <a:endParaRPr lang="en-US" b="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02FE23BEC032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3D25BA0-310B-7C33-C4C4-7087D1B55171}"/>
              </a:ext>
            </a:extLst>
          </p:cNvPr>
          <p:cNvSpPr txBox="1"/>
          <p:nvPr/>
        </p:nvSpPr>
        <p:spPr>
          <a:xfrm>
            <a:off x="1778595" y="1116101"/>
            <a:ext cx="98344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DEPARTMENT OF ELECTRONICS AND COMMUNICATION</a:t>
            </a:r>
            <a:endParaRPr lang="en-IN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666FBB-8B9C-7636-B23B-4C0603D775FF}"/>
              </a:ext>
            </a:extLst>
          </p:cNvPr>
          <p:cNvSpPr txBox="1"/>
          <p:nvPr/>
        </p:nvSpPr>
        <p:spPr>
          <a:xfrm>
            <a:off x="4270531" y="1486382"/>
            <a:ext cx="41923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MACHINE LEARNING PROJECT</a:t>
            </a:r>
            <a:endParaRPr lang="en-IN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CFF0EC-CF59-B5C4-F026-6B50B3DABE57}"/>
              </a:ext>
            </a:extLst>
          </p:cNvPr>
          <p:cNvSpPr txBox="1"/>
          <p:nvPr/>
        </p:nvSpPr>
        <p:spPr>
          <a:xfrm>
            <a:off x="2062479" y="1937230"/>
            <a:ext cx="83149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 PRODUCT RECOMMENDATION SYSTEM.</a:t>
            </a:r>
            <a:endParaRPr lang="en-IN" sz="32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716" y="84944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+mn-lt"/>
                <a:cs typeface="Times New Roman" panose="02020603050405020304" pitchFamily="18" charset="0"/>
              </a:rPr>
              <a:t>CONTENTS</a:t>
            </a:r>
            <a:r>
              <a:rPr lang="en-US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32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0218280"/>
              </p:ext>
            </p:extLst>
          </p:nvPr>
        </p:nvGraphicFramePr>
        <p:xfrm>
          <a:off x="855307" y="1732648"/>
          <a:ext cx="10515600" cy="4684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45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41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0554">
                <a:tc>
                  <a:txBody>
                    <a:bodyPr/>
                    <a:lstStyle/>
                    <a:p>
                      <a:r>
                        <a:rPr lang="en-US" sz="24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cs typeface="Times New Roman" panose="02020603050405020304" pitchFamily="18" charset="0"/>
                        </a:rPr>
                        <a:t>Sl.no </a:t>
                      </a:r>
                      <a:endParaRPr lang="en-IN" sz="24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cs typeface="Times New Roman" panose="02020603050405020304" pitchFamily="18" charset="0"/>
                        </a:rPr>
                        <a:t>TITLE </a:t>
                      </a:r>
                      <a:endParaRPr lang="en-IN" sz="2400" b="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554">
                <a:tc>
                  <a:txBody>
                    <a:bodyPr/>
                    <a:lstStyle/>
                    <a:p>
                      <a:r>
                        <a:rPr lang="en-US" sz="2000" b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1</a:t>
                      </a:r>
                      <a:endParaRPr lang="en-IN" sz="2000" b="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INTRODUCTION  </a:t>
                      </a:r>
                      <a:endParaRPr lang="en-IN" sz="2000" b="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554">
                <a:tc>
                  <a:txBody>
                    <a:bodyPr/>
                    <a:lstStyle/>
                    <a:p>
                      <a:r>
                        <a:rPr lang="en-US" sz="2000" b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2</a:t>
                      </a:r>
                      <a:endParaRPr lang="en-IN" sz="2000" b="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MOTIVATION &amp; BACKGROUND</a:t>
                      </a:r>
                      <a:endParaRPr lang="en-IN" sz="2000" b="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554">
                <a:tc>
                  <a:txBody>
                    <a:bodyPr/>
                    <a:lstStyle/>
                    <a:p>
                      <a:r>
                        <a:rPr lang="en-US" sz="2000" b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3</a:t>
                      </a:r>
                      <a:endParaRPr lang="en-IN" sz="2000" b="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LITERATURE SURVEY</a:t>
                      </a:r>
                      <a:endParaRPr lang="en-IN" sz="2000" b="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554">
                <a:tc>
                  <a:txBody>
                    <a:bodyPr/>
                    <a:lstStyle/>
                    <a:p>
                      <a:r>
                        <a:rPr lang="en-US" sz="2000" b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4</a:t>
                      </a:r>
                      <a:endParaRPr lang="en-IN" sz="2000" b="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OBJECTIVES</a:t>
                      </a:r>
                      <a:endParaRPr lang="en-IN" sz="2000" b="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554">
                <a:tc>
                  <a:txBody>
                    <a:bodyPr/>
                    <a:lstStyle/>
                    <a:p>
                      <a:r>
                        <a:rPr lang="en-US" sz="2000" b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5</a:t>
                      </a:r>
                      <a:endParaRPr lang="en-IN" sz="2000" b="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METODOLOGY</a:t>
                      </a:r>
                      <a:endParaRPr lang="en-IN" sz="2000" b="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2007930"/>
                  </a:ext>
                </a:extLst>
              </a:tr>
              <a:tr h="520554">
                <a:tc>
                  <a:txBody>
                    <a:bodyPr/>
                    <a:lstStyle/>
                    <a:p>
                      <a:r>
                        <a:rPr lang="en-US" sz="2000" b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6</a:t>
                      </a:r>
                      <a:endParaRPr lang="en-IN" sz="2000" b="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WORK FLOW</a:t>
                      </a:r>
                      <a:endParaRPr lang="en-IN" sz="2000" b="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0761262"/>
                  </a:ext>
                </a:extLst>
              </a:tr>
              <a:tr h="520554">
                <a:tc>
                  <a:txBody>
                    <a:bodyPr/>
                    <a:lstStyle/>
                    <a:p>
                      <a:r>
                        <a:rPr lang="en-US" sz="2000" b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7</a:t>
                      </a:r>
                      <a:endParaRPr lang="en-IN" sz="2000" b="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RESULTS</a:t>
                      </a:r>
                      <a:endParaRPr lang="en-IN" sz="2000" b="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7357772"/>
                  </a:ext>
                </a:extLst>
              </a:tr>
              <a:tr h="520554">
                <a:tc>
                  <a:txBody>
                    <a:bodyPr/>
                    <a:lstStyle/>
                    <a:p>
                      <a:r>
                        <a:rPr lang="en-US" sz="2000" b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8</a:t>
                      </a:r>
                      <a:endParaRPr lang="en-IN" sz="2000" b="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REFERENCES</a:t>
                      </a:r>
                      <a:endParaRPr lang="en-IN" sz="2000" b="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9412A4C-21A2-3D34-C291-A96B59A3B4B8}"/>
              </a:ext>
            </a:extLst>
          </p:cNvPr>
          <p:cNvSpPr>
            <a:spLocks noGrp="1"/>
          </p:cNvSpPr>
          <p:nvPr/>
        </p:nvSpPr>
        <p:spPr>
          <a:xfrm>
            <a:off x="855307" y="637173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F4F7A14-B6BD-468F-ABF5-420F3179DF81}" type="datetime1">
              <a:rPr lang="en-IN" smtClean="0"/>
              <a:pPr/>
              <a:t>13-01-2025</a:t>
            </a:fld>
            <a:endParaRPr lang="en-IN" dirty="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6E00F513-9267-AF7D-5396-EBA5967F8F86}"/>
              </a:ext>
            </a:extLst>
          </p:cNvPr>
          <p:cNvSpPr>
            <a:spLocks noGrp="1"/>
          </p:cNvSpPr>
          <p:nvPr/>
        </p:nvSpPr>
        <p:spPr>
          <a:xfrm>
            <a:off x="8627707" y="637173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7C5D7E8-EE27-4204-8EF9-D5E90A448860}" type="slidenum">
              <a:rPr lang="en-IN" smtClean="0"/>
              <a:pPr/>
              <a:t>2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F2B5FF8-7FFC-1944-A229-98E26A9C7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03" y="121136"/>
            <a:ext cx="11915194" cy="1066800"/>
          </a:xfrm>
          <a:prstGeom prst="rect">
            <a:avLst/>
          </a:prstGeom>
        </p:spPr>
      </p:pic>
      <p:sp>
        <p:nvSpPr>
          <p:cNvPr id="3" name="Footer Placeholder 14">
            <a:extLst>
              <a:ext uri="{FF2B5EF4-FFF2-40B4-BE49-F238E27FC236}">
                <a16:creationId xmlns:a16="http://schemas.microsoft.com/office/drawing/2014/main" id="{E26908D0-2E55-1D4F-8DF0-EC987BB344FF}"/>
              </a:ext>
            </a:extLst>
          </p:cNvPr>
          <p:cNvSpPr>
            <a:spLocks noGrp="1"/>
          </p:cNvSpPr>
          <p:nvPr/>
        </p:nvSpPr>
        <p:spPr>
          <a:xfrm>
            <a:off x="3128624" y="6417634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>
                <a:solidFill>
                  <a:schemeClr val="tx1"/>
                </a:solidFill>
              </a:rPr>
              <a:t>Dept. of ECE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39395-16E6-795D-17EC-7453B14DA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566"/>
            <a:ext cx="10515600" cy="679904"/>
          </a:xfrm>
        </p:spPr>
        <p:txBody>
          <a:bodyPr>
            <a:normAutofit/>
          </a:bodyPr>
          <a:lstStyle/>
          <a:p>
            <a:r>
              <a:rPr lang="en-IN" sz="3200" dirty="0"/>
              <a:t>                           </a:t>
            </a:r>
            <a:r>
              <a:rPr lang="en-IN" sz="3200" b="1" dirty="0">
                <a:latin typeface="+mn-lt"/>
              </a:rPr>
              <a:t>INTRODUCTION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304800" y="1182857"/>
            <a:ext cx="7040563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overwhelming number of available products makes it challenging for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choose the right one.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recommendation systems simplify the selection process by aligning suggestions with individual preferences.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 as tools to assess user behavior, preferences, and past actions to generate personalized suggestions.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provide feedback to continuously refine and enhance the accuracy of recommendations. 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Commonly used in e-commerce, streaming platforms (e.g., Netflix), and social media (e.g., Facebook, LinkedIn).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E56FE4-B02C-B97A-270E-6B186DC52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7632" y="75241"/>
            <a:ext cx="3991948" cy="6659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5FF48C9-B852-EB25-5F6E-8FD5FC85F3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8720" y="1442720"/>
            <a:ext cx="4206240" cy="420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229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3FBE0-E834-8D45-98A8-CCA465957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6680" y="273685"/>
            <a:ext cx="10515600" cy="1325563"/>
          </a:xfrm>
        </p:spPr>
        <p:txBody>
          <a:bodyPr/>
          <a:lstStyle/>
          <a:p>
            <a:r>
              <a:rPr lang="en-IN" dirty="0"/>
              <a:t>            </a:t>
            </a:r>
            <a:r>
              <a:rPr lang="en-IN" sz="3200" b="1" dirty="0">
                <a:latin typeface="+mn-lt"/>
              </a:rPr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BDBBC-A6B4-3969-EC44-87322E233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640" y="1303021"/>
            <a:ext cx="10805695" cy="3771900"/>
          </a:xfrm>
        </p:spPr>
        <p:txBody>
          <a:bodyPr>
            <a:norm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today's digital age, consumers face an overwhelming amount of choices, leading to decision fatigue. A recommendation system directly addresses this by simplifying the selection process and enhancing user satisfaction.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enables hands-on experience with advanced methodologies such as collaborative filtering, hybrid models, and deep learning, which are highly sought-after in tech roles.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aim is to create a system that personalizes recommendations while encouraging users to explore new brands, categories, and innovative products.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user engagement through feedback-driven learning, creating a dynamic and intuitive shopping experience.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C57496-FFB8-3A5B-0C2E-06C3B5D43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7632" y="75241"/>
            <a:ext cx="3991948" cy="665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505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9C6CA-E97A-D393-AADC-F9550F75CF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825" y="482600"/>
            <a:ext cx="10753376" cy="590549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</a:p>
          <a:p>
            <a:pPr marL="0" indent="0" algn="ctr">
              <a:buNone/>
            </a:pP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Overload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Consumers face an overwhelming number of product choices across categories, making decision-making challenging.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Early recommendation systems relied on generic popular product lists, offering limited personalization and relevance.</a:t>
            </a:r>
          </a:p>
          <a:p>
            <a:pPr marL="514350" indent="-514350" algn="just"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Rise of E-commerce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growth of online shopping platforms has created a demand for personalized shopping experiences to cater to a diverse audience.</a:t>
            </a:r>
          </a:p>
          <a:p>
            <a:pPr marL="514350" indent="-514350" algn="just"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Early Systems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Early recommendation models lacked the ability to adapt to changing user preferences and struggled with sparse data, especially for new users or products.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dirty="0"/>
          </a:p>
          <a:p>
            <a:pPr marL="0" indent="0">
              <a:buNone/>
            </a:pPr>
            <a:endParaRPr lang="en-IN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55197BA-F45B-1405-86B8-550851F310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423" y="3763435"/>
            <a:ext cx="107533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2A1993-CBE4-83A1-4F80-AEB620ED3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7632" y="75241"/>
            <a:ext cx="3991948" cy="665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676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7814D-18BC-D5E9-A45A-75A05BCF3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74708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600" b="1" dirty="0">
                <a:latin typeface="+mn-lt"/>
              </a:rPr>
              <a:t>LITERATURE REVIEW</a:t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4368E32-0019-E20B-7EF2-BC5671AB28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9675012"/>
              </p:ext>
            </p:extLst>
          </p:nvPr>
        </p:nvGraphicFramePr>
        <p:xfrm>
          <a:off x="-1" y="540328"/>
          <a:ext cx="12191998" cy="70437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6168">
                  <a:extLst>
                    <a:ext uri="{9D8B030D-6E8A-4147-A177-3AD203B41FA5}">
                      <a16:colId xmlns:a16="http://schemas.microsoft.com/office/drawing/2014/main" val="1410600"/>
                    </a:ext>
                  </a:extLst>
                </a:gridCol>
                <a:gridCol w="2061557">
                  <a:extLst>
                    <a:ext uri="{9D8B030D-6E8A-4147-A177-3AD203B41FA5}">
                      <a16:colId xmlns:a16="http://schemas.microsoft.com/office/drawing/2014/main" val="75490173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1678252351"/>
                    </a:ext>
                  </a:extLst>
                </a:gridCol>
                <a:gridCol w="2044931">
                  <a:extLst>
                    <a:ext uri="{9D8B030D-6E8A-4147-A177-3AD203B41FA5}">
                      <a16:colId xmlns:a16="http://schemas.microsoft.com/office/drawing/2014/main" val="3016374913"/>
                    </a:ext>
                  </a:extLst>
                </a:gridCol>
                <a:gridCol w="2236123">
                  <a:extLst>
                    <a:ext uri="{9D8B030D-6E8A-4147-A177-3AD203B41FA5}">
                      <a16:colId xmlns:a16="http://schemas.microsoft.com/office/drawing/2014/main" val="3455315549"/>
                    </a:ext>
                  </a:extLst>
                </a:gridCol>
                <a:gridCol w="2108659">
                  <a:extLst>
                    <a:ext uri="{9D8B030D-6E8A-4147-A177-3AD203B41FA5}">
                      <a16:colId xmlns:a16="http://schemas.microsoft.com/office/drawing/2014/main" val="3145262732"/>
                    </a:ext>
                  </a:extLst>
                </a:gridCol>
              </a:tblGrid>
              <a:tr h="887989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Methodology/Implementation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set 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Parameter</a:t>
                      </a:r>
                    </a:p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Limitations/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Disadvantanges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Gaps Identified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7656318"/>
                  </a:ext>
                </a:extLst>
              </a:tr>
              <a:tr h="1539181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 and Implementation of a Product Recommendation System with Association and Clustering Algorithms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Combines </a:t>
                      </a:r>
                      <a:r>
                        <a:rPr lang="en-US" sz="1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Apriori</a:t>
                      </a: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Algorithm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product associations and </a:t>
                      </a: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K-Means Clustering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grouping customer demographics using transactional sales and customer data.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Tested on data from an Austrian B2B hygiene retailer with &gt;500 products, using sales and demographic data (e.g., location, customer type, order type).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Evaluated by </a:t>
                      </a: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support, confidence, lift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association rules and cluster quality (&gt;30% sample size per cluster).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to one case study, lacks real-world implementation, and uses minimal demographic attributes.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Needs scalability, broader industry testing, and advanced demographic data for improved clustering and generalizability.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8649167"/>
                  </a:ext>
                </a:extLst>
              </a:tr>
              <a:tr h="2160774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Comparative Study of Machine Learning Approaches for Amazon Reviews 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Compared SVM, Naive Bayes, and Maximum Entropy classifiers using unigrams and weighted unigrams for sentiment classification of Amazon reviews.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21,500 reviews (9,500 positive, 9,500 negative, 2,500 neutral) for training and 3,000 for testing, collected via the Amazon API.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SVM achieved the highest accuracy (81.20%) using weighted unigrams, outperforming Naive Bayes (77.42%) and Maximum Entropy (70.35%).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Small dataset and exclusion of emoticons limited model performance and adaptability.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 of multilingual analysis, advanced features like deep learning, and hybrid classifier techniques.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6202706"/>
                  </a:ext>
                </a:extLst>
              </a:tr>
              <a:tr h="2170302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Optimizing Recommender Systems Using Markov Decision Processes: A Sequential Decision Framework for E-Commerce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MDP-based recommender system optimized for sequential decisions using Markov chain initialization to balance immediate and long-term rewards.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real-world data from an online bookstore with over 10,000 user transactions and 100+ items, filtered for reliability.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Measured by user acceptance rates, commercial value, and accuracy metrics like Exponential Decay and Recommendation Score.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by assumptions of recommendation independence and lack of contextual user attributes or multimedia data.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Misses hybrid techniques, deeper user context, and requires frequent updates to match evolving behaviors.</a:t>
                      </a:r>
                    </a:p>
                    <a:p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82924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5197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BB364-AA57-37F1-1121-32D9AFFA5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537"/>
            <a:ext cx="10515600" cy="45719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676E0732-2C3C-1BE6-DE65-F8BAB5329B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5460147"/>
              </p:ext>
            </p:extLst>
          </p:nvPr>
        </p:nvGraphicFramePr>
        <p:xfrm>
          <a:off x="-74815" y="0"/>
          <a:ext cx="12266815" cy="7349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2175">
                  <a:extLst>
                    <a:ext uri="{9D8B030D-6E8A-4147-A177-3AD203B41FA5}">
                      <a16:colId xmlns:a16="http://schemas.microsoft.com/office/drawing/2014/main" val="1825739565"/>
                    </a:ext>
                  </a:extLst>
                </a:gridCol>
                <a:gridCol w="2019993">
                  <a:extLst>
                    <a:ext uri="{9D8B030D-6E8A-4147-A177-3AD203B41FA5}">
                      <a16:colId xmlns:a16="http://schemas.microsoft.com/office/drawing/2014/main" val="1967513199"/>
                    </a:ext>
                  </a:extLst>
                </a:gridCol>
                <a:gridCol w="2003367">
                  <a:extLst>
                    <a:ext uri="{9D8B030D-6E8A-4147-A177-3AD203B41FA5}">
                      <a16:colId xmlns:a16="http://schemas.microsoft.com/office/drawing/2014/main" val="340648023"/>
                    </a:ext>
                  </a:extLst>
                </a:gridCol>
                <a:gridCol w="2161309">
                  <a:extLst>
                    <a:ext uri="{9D8B030D-6E8A-4147-A177-3AD203B41FA5}">
                      <a16:colId xmlns:a16="http://schemas.microsoft.com/office/drawing/2014/main" val="937316633"/>
                    </a:ext>
                  </a:extLst>
                </a:gridCol>
                <a:gridCol w="2069869">
                  <a:extLst>
                    <a:ext uri="{9D8B030D-6E8A-4147-A177-3AD203B41FA5}">
                      <a16:colId xmlns:a16="http://schemas.microsoft.com/office/drawing/2014/main" val="200752379"/>
                    </a:ext>
                  </a:extLst>
                </a:gridCol>
                <a:gridCol w="2200102">
                  <a:extLst>
                    <a:ext uri="{9D8B030D-6E8A-4147-A177-3AD203B41FA5}">
                      <a16:colId xmlns:a16="http://schemas.microsoft.com/office/drawing/2014/main" val="1052684381"/>
                    </a:ext>
                  </a:extLst>
                </a:gridCol>
              </a:tblGrid>
              <a:tr h="9273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</a:p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Methodology/Implementation</a:t>
                      </a:r>
                    </a:p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set Description</a:t>
                      </a:r>
                    </a:p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Parameter</a:t>
                      </a:r>
                    </a:p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Limitations/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Disadvtanges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Gaps Identified</a:t>
                      </a:r>
                    </a:p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3144256"/>
                  </a:ext>
                </a:extLst>
              </a:tr>
              <a:tr h="192100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Development of Product Recommendation Systems Using Popularity-Based and Collaborative Filtering Approaches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two types of recommendation systems: a popularity-based system recommending top-rated books and a collaborative filtering system using cosine similarity to suggest similar books based on user ratings.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Utilized datasets containing book, user, and rating data, filtered to include only well-read users (rated more than 200 books) and popular books (rated more than 50 times).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Evaluated based on the relevance of recommendations, accuracy of similarity computation (cosine similarity), and the ability to cater to user preferences effectively.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Suffers from the cold start problem for new users or items, challenges in maintaining diversity in recommendations, and scalability issues with growing data.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Lacks integration of deep learning or hybrid approaches and does not address privacy concerns with user data comprehensively.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6651112"/>
                  </a:ext>
                </a:extLst>
              </a:tr>
              <a:tr h="1823807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Use of Machine Learning Algorithms in Recommender Systems: A Systematic Review 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Conducted a systematic review of 26 peer-reviewed studies on ML algorithms in recommender systems, focusing on implemented and tested approaches using real or simulated data.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Predominantly used datasets: </a:t>
                      </a:r>
                      <a:r>
                        <a:rPr lang="en-US" sz="1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MovieLens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</a:t>
                      </a: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IMDb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movies, and text-based datasets for documents and product reviews.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Emphasized algorithm simplicity, computational efficiency, scalability, and testing accuracy; Bayesian and Decision Tree algorithms were most popular due to ease of implementation.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focus on early lifecycle stages (requirements, design) and maintenance; challenges with complex algorithms like Neural Networks due to interpretability issues.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 of standardized ML algorithm classification and insufficient research in underexplored application domains and software engineering stages like design and maintenance.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679033"/>
                  </a:ext>
                </a:extLst>
              </a:tr>
              <a:tr h="2185830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Advanced techniques for better Recommendations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Employs collaborative filtering (user behavior) and content-based filtering (item characteristics), with hybrid systems combining both for enhanced accuracy.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substantial user interaction data (e.g., preferences or purchase history) for effective collaborative filtering.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Achieves high accuracy and personalization; hybrid systems boost user experience and sales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Cold-start problem remains a challenge for new users or items due to insufficient data.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Further work needed to address the cold-start problem and improve hybrid system performance in sparse data environments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4457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7888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C117B-1559-C9C9-BBAB-4CA0ADCDC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68381-C6F0-3D3C-DFED-8C904B021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520" y="1403263"/>
            <a:ext cx="10515600" cy="4051473"/>
          </a:xfrm>
        </p:spPr>
        <p:txBody>
          <a:bodyPr>
            <a:normAutofit lnSpcReduction="10000"/>
          </a:bodyPr>
          <a:lstStyle/>
          <a:p>
            <a:pPr marL="0" indent="0" algn="l"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 an efficient recommendation system that delivers personalized suggestions. </a:t>
            </a:r>
          </a:p>
          <a:p>
            <a:pPr algn="just"/>
            <a:endParaRPr lang="en-US" sz="20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Utilize advanced algorithms like SVM and KNN for better proximity detection and classification.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Ensure real-time recommendations by incorporating product availability and user preferences.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Evaluate the system's performance using metrics like precision, recall, and F1-score.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 scalable system capable of handling large datasets efficiently.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A8D9E1-25BC-58EF-D05B-F458024F8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7632" y="75241"/>
            <a:ext cx="3991948" cy="665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009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CC309-D13A-E7E5-2684-C67706E04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6B31D-3CA5-02CC-B559-59A70C694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+mn-lt"/>
              </a:rPr>
              <a:t>              </a:t>
            </a:r>
            <a:r>
              <a:rPr lang="en-IN" sz="3200" b="1" dirty="0">
                <a:latin typeface="+mn-lt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2EAFC-2881-BFF6-C331-41E9A9AE3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1625"/>
            <a:ext cx="10515600" cy="435133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 with a block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14593F-5896-270F-F91A-44F58B7A1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7632" y="75241"/>
            <a:ext cx="3991948" cy="6659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F8EA45-65DB-E489-85CB-1DDA0DD1F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5872" y="2404664"/>
            <a:ext cx="4027248" cy="3746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4735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27F68-BBEC-97E2-8B86-2A3257A8E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9611" y="197644"/>
            <a:ext cx="5657850" cy="879342"/>
          </a:xfrm>
        </p:spPr>
        <p:txBody>
          <a:bodyPr/>
          <a:lstStyle/>
          <a:p>
            <a:r>
              <a:rPr lang="en-IN" dirty="0"/>
              <a:t>             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FLOW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33265" y="1199389"/>
            <a:ext cx="11592975" cy="4399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Gather user data: reading history, ratings, and reviews. 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Collect book metadata: genres, authors, themes, etc. 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 and structure data for consistency. 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Engine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Collaborative Filtering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Recommends based on similar user preferences. 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Content-Based Filtering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Suggests books based on similar attributes. 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Hybrid Model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Combines both approaches for accuracy.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1CB7B0-BEA9-8E92-DAE7-51FCD2E77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7632" y="75241"/>
            <a:ext cx="3991948" cy="665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646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0D4E7-2029-69F2-8F4C-0256D9654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0"/>
            <a:ext cx="10515600" cy="721995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+mn-lt"/>
              </a:rPr>
              <a:t>RESULTS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97840" y="3144308"/>
            <a:ext cx="10972800" cy="569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3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F9F73F-BCB6-5360-9BEF-B0BADDEA3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7632" y="75241"/>
            <a:ext cx="3991948" cy="6659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65317A4-76FE-27F6-AFE1-5B8D266F2AD0}"/>
              </a:ext>
            </a:extLst>
          </p:cNvPr>
          <p:cNvSpPr txBox="1"/>
          <p:nvPr/>
        </p:nvSpPr>
        <p:spPr>
          <a:xfrm>
            <a:off x="741872" y="741148"/>
            <a:ext cx="1126609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recommended recommendation system boasts high effectiveness in Precision of 86.7%, Recall of 83.2%, and F1 Score of 84.9%. This means the system is relevantly accurate for giving product recommendations and is thus a good balance between precision and recall. Figure 3 depicts the developed web application user interface in which the system presents real-time product recommendations. It is a well-streamlined design to assure that the interface allows for smooth and intuitive interaction as well as efficient navigation.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74799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D20E1-6232-6289-F8C2-9B9A8949D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B0EA2-78CB-3091-706D-B14796CAD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A6FD9BD-9852-8760-98AC-25BE1326D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7632" y="75241"/>
            <a:ext cx="3991948" cy="66590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B80ADC9-1019-6A0C-1508-C909F4139D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0640" y="1534160"/>
            <a:ext cx="9692639" cy="485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212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DD94A-E125-08D0-43AD-4B1608D27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0"/>
            <a:ext cx="10515600" cy="1072343"/>
          </a:xfrm>
        </p:spPr>
        <p:txBody>
          <a:bodyPr>
            <a:normAutofit/>
          </a:bodyPr>
          <a:lstStyle/>
          <a:p>
            <a:pPr algn="ctr"/>
            <a:r>
              <a:rPr lang="en-IN" sz="3200" dirty="0">
                <a:latin typeface="+mn-lt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02E97-7249-9928-8739-6398AACD5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575" y="1147156"/>
            <a:ext cx="11305309" cy="503943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6400" dirty="0"/>
          </a:p>
          <a:p>
            <a:pPr marL="0" indent="0">
              <a:buNone/>
            </a:pPr>
            <a:endParaRPr lang="en-US" sz="6400" dirty="0"/>
          </a:p>
          <a:p>
            <a:pPr marL="0" indent="0">
              <a:buNone/>
            </a:pPr>
            <a:endParaRPr lang="en-IN" sz="1700" dirty="0"/>
          </a:p>
          <a:p>
            <a:pPr marL="0" indent="0">
              <a:buNone/>
            </a:pPr>
            <a:endParaRPr lang="en-IN" sz="1700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639861-3EAB-49C6-4AA5-F0C4C8298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6746" y="32465"/>
            <a:ext cx="3991948" cy="6659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59546C-9329-F782-A81F-E3A233DEB7A9}"/>
              </a:ext>
            </a:extLst>
          </p:cNvPr>
          <p:cNvSpPr txBox="1"/>
          <p:nvPr/>
        </p:nvSpPr>
        <p:spPr>
          <a:xfrm>
            <a:off x="369916" y="915251"/>
            <a:ext cx="11446625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[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1] Shani et al., “The focus is on MDP-based recommender systems.” A possible video could be a tutorial on implementing an MDP-based recommendation system for e-commerce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From ML02.pdf, “The focus is on clustering and association algorithms for recommendations.” You could create a video demonstrating association rule mining with practical examples in retail.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From Amazon Reviews Study, “It is based on sentiment analysis.” A video idea can be a step-by-step guide on how to do sentiment analysis using unigrams and machine learning models such as SVM.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Amazon Products Sales Dataset 2023, “Dataset available on Kaggle.”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D. Burch and G. Lawrence, “Supermarket Own Brands, Supply Chains and the Transformation of the Agri-food System,” 2005,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10.48416/IJSAF.V13I1.312.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S. H. Choi, S. Kang, and Y. J. Jeon, “Personalized recommendation system based on product specification values,” Expert systems with applications, vol. 31, no. 3, pp. 607–616, 2006,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10.1016/j.eswa.2005.09.074</a:t>
            </a:r>
            <a:r>
              <a:rPr lang="en-US" sz="2000" dirty="0"/>
              <a:t>.</a:t>
            </a:r>
          </a:p>
          <a:p>
            <a:pPr algn="just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472388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1105</TotalTime>
  <Words>1554</Words>
  <Application>Microsoft Office PowerPoint</Application>
  <PresentationFormat>Widescreen</PresentationFormat>
  <Paragraphs>166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Google Sans</vt:lpstr>
      <vt:lpstr>Times New Roman</vt:lpstr>
      <vt:lpstr>Wingdings</vt:lpstr>
      <vt:lpstr>Office Theme</vt:lpstr>
      <vt:lpstr>PowerPoint Presentation</vt:lpstr>
      <vt:lpstr>CONTENTS </vt:lpstr>
      <vt:lpstr>                           INTRODUCTION</vt:lpstr>
      <vt:lpstr>            MOTIVATION</vt:lpstr>
      <vt:lpstr>PowerPoint Presentation</vt:lpstr>
      <vt:lpstr>LITERATURE REVIEW </vt:lpstr>
      <vt:lpstr>PowerPoint Presentation</vt:lpstr>
      <vt:lpstr>OBJECTIVES</vt:lpstr>
      <vt:lpstr>              METHODOLOGY</vt:lpstr>
      <vt:lpstr>              WORK FLOW</vt:lpstr>
      <vt:lpstr>RESULTS</vt:lpstr>
      <vt:lpstr>RESULTS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 Team member (Name, SRN) under guidance of Dr.Prema T. Akkasaligar and Dr. Santosh Pattar</dc:title>
  <dc:creator>Prema T. Akkasaligar</dc:creator>
  <cp:lastModifiedBy>Priyanka Budihal</cp:lastModifiedBy>
  <cp:revision>39</cp:revision>
  <dcterms:created xsi:type="dcterms:W3CDTF">2023-11-06T07:27:32Z</dcterms:created>
  <dcterms:modified xsi:type="dcterms:W3CDTF">2025-01-13T06:20:47Z</dcterms:modified>
</cp:coreProperties>
</file>